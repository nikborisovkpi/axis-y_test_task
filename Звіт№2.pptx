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sldIdLst>
    <p:sldId id="257" r:id="rId2"/>
    <p:sldId id="258" r:id="rId3"/>
    <p:sldId id="260" r:id="rId4"/>
    <p:sldId id="261" r:id="rId5"/>
    <p:sldId id="263" r:id="rId6"/>
    <p:sldId id="273" r:id="rId7"/>
    <p:sldId id="274" r:id="rId8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0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306509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7082CB32-AC88-4F6C-B9F3-6FD5028CED0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57871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19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64535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7082CB32-AC88-4F6C-B9F3-6FD5028CED0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84540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05527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7082CB32-AC88-4F6C-B9F3-6FD5028CED0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71709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7082CB32-AC88-4F6C-B9F3-6FD5028CED0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22633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7082CB32-AC88-4F6C-B9F3-6FD5028CED05}" type="slidenum">
              <a:rPr lang="uk-UA" smtClean="0"/>
              <a:t>‹#›</a:t>
            </a:fld>
            <a:endParaRPr lang="uk-U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263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ru-RU"/>
              <a:t>Вставка таблицы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7082CB32-AC88-4F6C-B9F3-6FD5028CED0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50453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7082CB32-AC88-4F6C-B9F3-6FD5028CED0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95942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таблица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ru-RU"/>
              <a:t>Вставка таблицы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7082CB32-AC88-4F6C-B9F3-6FD5028CED0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03887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7487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F58F5E8-F1E1-4B23-97B0-5028B94F9692}" type="datetimeFigureOut">
              <a:rPr lang="uk-UA" smtClean="0"/>
              <a:t>10.06.2026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082CB32-AC88-4F6C-B9F3-6FD5028CED0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564192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F5E8-F1E1-4B23-97B0-5028B94F9692}" type="datetimeFigureOut">
              <a:rPr lang="uk-UA" smtClean="0"/>
              <a:t>10.06.2026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2CB32-AC88-4F6C-B9F3-6FD5028CED0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15568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fld id="{6F58F5E8-F1E1-4B23-97B0-5028B94F9692}" type="datetimeFigureOut">
              <a:rPr lang="uk-UA" smtClean="0"/>
              <a:t>10.06.2026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7082CB32-AC88-4F6C-B9F3-6FD5028CED0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03783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1D5E374-4AC8-D895-FEE2-70427C37D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701493"/>
          </a:xfrm>
        </p:spPr>
        <p:txBody>
          <a:bodyPr/>
          <a:lstStyle/>
          <a:p>
            <a:pPr algn="ctr"/>
            <a:r>
              <a:rPr lang="uk-UA" b="1" dirty="0"/>
              <a:t>Технічне завдання №2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12B27F4-D8FD-328F-B702-448C37AA9AC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34676" y="1472367"/>
            <a:ext cx="9522647" cy="47071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b="1" dirty="0"/>
              <a:t>Ціль: </a:t>
            </a:r>
            <a:r>
              <a:rPr lang="uk-UA" dirty="0"/>
              <a:t>Визначати та рахувати кількість пляшок </a:t>
            </a:r>
            <a:r>
              <a:rPr lang="en-US" dirty="0"/>
              <a:t>Coca-Cola </a:t>
            </a:r>
            <a:r>
              <a:rPr lang="uk-UA" dirty="0"/>
              <a:t>та </a:t>
            </a:r>
            <a:r>
              <a:rPr lang="en-US" dirty="0"/>
              <a:t>Pepsi </a:t>
            </a:r>
            <a:r>
              <a:rPr lang="uk-UA" dirty="0"/>
              <a:t>у зонах </a:t>
            </a:r>
            <a:r>
              <a:rPr lang="en-US" dirty="0"/>
              <a:t>A </a:t>
            </a:r>
            <a:r>
              <a:rPr lang="uk-UA" dirty="0"/>
              <a:t>та </a:t>
            </a:r>
            <a:r>
              <a:rPr lang="en-US" dirty="0"/>
              <a:t>B </a:t>
            </a:r>
            <a:r>
              <a:rPr lang="uk-UA" dirty="0"/>
              <a:t>на зображеннях чи відео.</a:t>
            </a:r>
          </a:p>
          <a:p>
            <a:pPr marL="0" indent="0">
              <a:buNone/>
            </a:pPr>
            <a:endParaRPr lang="ru-RU" dirty="0"/>
          </a:p>
          <a:p>
            <a:r>
              <a:rPr lang="uk-UA" sz="1900" i="1" dirty="0"/>
              <a:t>Вхідні дані: </a:t>
            </a:r>
            <a:r>
              <a:rPr lang="ru-RU" sz="1900" dirty="0" err="1"/>
              <a:t>Потік</a:t>
            </a:r>
            <a:r>
              <a:rPr lang="ru-RU" sz="1900" dirty="0"/>
              <a:t> </a:t>
            </a:r>
            <a:r>
              <a:rPr lang="ru-RU" sz="1900" dirty="0" err="1"/>
              <a:t>відео</a:t>
            </a:r>
            <a:r>
              <a:rPr lang="ru-RU" sz="1900" dirty="0"/>
              <a:t> </a:t>
            </a:r>
            <a:r>
              <a:rPr lang="ru-RU" sz="1900" dirty="0" err="1"/>
              <a:t>або</a:t>
            </a:r>
            <a:r>
              <a:rPr lang="ru-RU" sz="1900" dirty="0"/>
              <a:t> </a:t>
            </a:r>
            <a:r>
              <a:rPr lang="ru-RU" sz="1900" dirty="0" err="1"/>
              <a:t>окремі</a:t>
            </a:r>
            <a:r>
              <a:rPr lang="ru-RU" sz="1900" dirty="0"/>
              <a:t> </a:t>
            </a:r>
            <a:r>
              <a:rPr lang="ru-RU" sz="1900" dirty="0" err="1"/>
              <a:t>зображення</a:t>
            </a:r>
            <a:r>
              <a:rPr lang="ru-RU" sz="1900" dirty="0"/>
              <a:t> з </a:t>
            </a:r>
            <a:r>
              <a:rPr lang="ru-RU" sz="1900" dirty="0" err="1"/>
              <a:t>двома</a:t>
            </a:r>
            <a:r>
              <a:rPr lang="ru-RU" sz="1900" dirty="0"/>
              <a:t> </a:t>
            </a:r>
            <a:r>
              <a:rPr lang="ru-RU" sz="1900" dirty="0" err="1"/>
              <a:t>визначеними</a:t>
            </a:r>
            <a:r>
              <a:rPr lang="ru-RU" sz="1900" dirty="0"/>
              <a:t> зонами для </a:t>
            </a:r>
            <a:r>
              <a:rPr lang="ru-RU" sz="1900" dirty="0" err="1"/>
              <a:t>аналізу</a:t>
            </a:r>
            <a:r>
              <a:rPr lang="ru-RU" sz="1900" dirty="0"/>
              <a:t> </a:t>
            </a:r>
            <a:r>
              <a:rPr lang="en-US" sz="1900" dirty="0"/>
              <a:t>(A, B)</a:t>
            </a:r>
            <a:r>
              <a:rPr lang="uk-UA" sz="1900" dirty="0"/>
              <a:t>, які визначаються виділеними полігонами.</a:t>
            </a:r>
          </a:p>
          <a:p>
            <a:r>
              <a:rPr lang="uk-UA" sz="1900" i="1" dirty="0"/>
              <a:t>Вихідні дані</a:t>
            </a:r>
            <a:r>
              <a:rPr lang="ru-RU" sz="1900" i="1" dirty="0"/>
              <a:t>: </a:t>
            </a:r>
            <a:r>
              <a:rPr lang="uk-UA" sz="1900" dirty="0"/>
              <a:t>Кількість пляшок </a:t>
            </a:r>
            <a:r>
              <a:rPr lang="en-US" sz="1900" dirty="0"/>
              <a:t>Coca-Cola </a:t>
            </a:r>
            <a:r>
              <a:rPr lang="uk-UA" sz="1900" dirty="0"/>
              <a:t>та </a:t>
            </a:r>
            <a:r>
              <a:rPr lang="en-US" sz="1900" dirty="0"/>
              <a:t>Pepsi</a:t>
            </a:r>
            <a:r>
              <a:rPr lang="uk-UA" sz="1900" dirty="0"/>
              <a:t> у кожній зоні. Формат виходу- </a:t>
            </a:r>
            <a:r>
              <a:rPr lang="en-US" sz="1900" dirty="0"/>
              <a:t>JSON-</a:t>
            </a:r>
            <a:r>
              <a:rPr lang="uk-UA" sz="1900" dirty="0"/>
              <a:t>структура. </a:t>
            </a:r>
          </a:p>
          <a:p>
            <a:r>
              <a:rPr lang="uk-UA" sz="1900" i="1" dirty="0"/>
              <a:t>Візуалізація:</a:t>
            </a:r>
            <a:r>
              <a:rPr lang="uk-UA" sz="1900" dirty="0"/>
              <a:t> обведені зони + підпис кількості об’єктів у кожній зоні.</a:t>
            </a:r>
          </a:p>
          <a:p>
            <a:r>
              <a:rPr lang="uk-UA" sz="1900" i="1" dirty="0"/>
              <a:t>Функціональні вимоги: </a:t>
            </a:r>
            <a:r>
              <a:rPr lang="uk-UA" sz="1900" dirty="0"/>
              <a:t>використати навчену модель </a:t>
            </a:r>
            <a:r>
              <a:rPr lang="en-US" sz="1900" dirty="0"/>
              <a:t>YOLO </a:t>
            </a:r>
            <a:r>
              <a:rPr lang="uk-UA" sz="1900" dirty="0"/>
              <a:t>для знаходження і класифікації пляшок (</a:t>
            </a:r>
            <a:r>
              <a:rPr lang="en-US" sz="1900" dirty="0"/>
              <a:t>Coca-Cola </a:t>
            </a:r>
            <a:r>
              <a:rPr lang="uk-UA" sz="1900" dirty="0"/>
              <a:t>та </a:t>
            </a:r>
            <a:r>
              <a:rPr lang="en-US" sz="1900" dirty="0"/>
              <a:t>Pepsi</a:t>
            </a:r>
            <a:r>
              <a:rPr lang="uk-UA" sz="1900" dirty="0"/>
              <a:t>); </a:t>
            </a:r>
            <a:r>
              <a:rPr lang="ru-RU" sz="1900" dirty="0"/>
              <a:t>для кожного </a:t>
            </a:r>
            <a:r>
              <a:rPr lang="ru-RU" sz="1900" dirty="0" err="1"/>
              <a:t>знайденого</a:t>
            </a:r>
            <a:r>
              <a:rPr lang="ru-RU" sz="1900" dirty="0"/>
              <a:t> </a:t>
            </a:r>
            <a:r>
              <a:rPr lang="ru-RU" sz="1900" dirty="0" err="1"/>
              <a:t>об’єкта</a:t>
            </a:r>
            <a:r>
              <a:rPr lang="ru-RU" sz="1900" dirty="0"/>
              <a:t> </a:t>
            </a:r>
            <a:r>
              <a:rPr lang="ru-RU" sz="1900" dirty="0" err="1"/>
              <a:t>визначати</a:t>
            </a:r>
            <a:r>
              <a:rPr lang="ru-RU" sz="1900" dirty="0"/>
              <a:t>, </a:t>
            </a:r>
            <a:r>
              <a:rPr lang="ru-RU" sz="1900" dirty="0" err="1"/>
              <a:t>чи</a:t>
            </a:r>
            <a:r>
              <a:rPr lang="ru-RU" sz="1900" dirty="0"/>
              <a:t> </a:t>
            </a:r>
            <a:r>
              <a:rPr lang="ru-RU" sz="1900" dirty="0" err="1"/>
              <a:t>потрапляє</a:t>
            </a:r>
            <a:r>
              <a:rPr lang="ru-RU" sz="1900" dirty="0"/>
              <a:t> </a:t>
            </a:r>
            <a:r>
              <a:rPr lang="ru-RU" sz="1900" dirty="0" err="1"/>
              <a:t>він</a:t>
            </a:r>
            <a:r>
              <a:rPr lang="ru-RU" sz="1900" dirty="0"/>
              <a:t> у зону A </a:t>
            </a:r>
            <a:r>
              <a:rPr lang="ru-RU" sz="1900" dirty="0" err="1"/>
              <a:t>або</a:t>
            </a:r>
            <a:r>
              <a:rPr lang="ru-RU" sz="1900" dirty="0"/>
              <a:t> B.</a:t>
            </a:r>
          </a:p>
          <a:p>
            <a:r>
              <a:rPr lang="ru-RU" sz="1900" i="1" dirty="0"/>
              <a:t>Алгоритм</a:t>
            </a:r>
            <a:r>
              <a:rPr lang="ru-RU" sz="1900" dirty="0"/>
              <a:t>: </a:t>
            </a:r>
            <a:r>
              <a:rPr lang="ru-RU" sz="1900" dirty="0" err="1"/>
              <a:t>перевірка</a:t>
            </a:r>
            <a:r>
              <a:rPr lang="ru-RU" sz="1900" dirty="0"/>
              <a:t>, </a:t>
            </a:r>
            <a:r>
              <a:rPr lang="ru-RU" sz="1900" dirty="0" err="1"/>
              <a:t>чи</a:t>
            </a:r>
            <a:r>
              <a:rPr lang="ru-RU" sz="1900" dirty="0"/>
              <a:t> центр </a:t>
            </a:r>
            <a:r>
              <a:rPr lang="ru-RU" sz="1900" dirty="0" err="1"/>
              <a:t>об’єкта</a:t>
            </a:r>
            <a:r>
              <a:rPr lang="ru-RU" sz="1900" dirty="0"/>
              <a:t> </a:t>
            </a:r>
            <a:r>
              <a:rPr lang="ru-RU" sz="1900" dirty="0" err="1"/>
              <a:t>знаходиться</a:t>
            </a:r>
            <a:r>
              <a:rPr lang="ru-RU" sz="1900" dirty="0"/>
              <a:t> </a:t>
            </a:r>
            <a:r>
              <a:rPr lang="ru-RU" sz="1900" dirty="0" err="1"/>
              <a:t>всередині</a:t>
            </a:r>
            <a:r>
              <a:rPr lang="ru-RU" sz="1900" dirty="0"/>
              <a:t> </a:t>
            </a:r>
            <a:r>
              <a:rPr lang="ru-RU" sz="1900" dirty="0" err="1"/>
              <a:t>полігону</a:t>
            </a:r>
            <a:r>
              <a:rPr lang="ru-RU" sz="1900" dirty="0"/>
              <a:t>.</a:t>
            </a:r>
          </a:p>
          <a:p>
            <a:pPr marL="0" indent="0">
              <a:buNone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63004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A1B0A-8A82-CEF7-DE7E-B8009BD95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4A5BF54-C6C4-0220-456F-6BC38787F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701493"/>
          </a:xfrm>
        </p:spPr>
        <p:txBody>
          <a:bodyPr/>
          <a:lstStyle/>
          <a:p>
            <a:pPr algn="ctr"/>
            <a:r>
              <a:rPr lang="uk-UA" b="1" dirty="0"/>
              <a:t>Основні оновлення </a:t>
            </a:r>
            <a:r>
              <a:rPr lang="uk-UA" b="1" dirty="0" err="1"/>
              <a:t>проєкту</a:t>
            </a:r>
            <a:endParaRPr lang="uk-UA" b="1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20A0C26B-21F8-8FA2-E944-F2B479D671A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2" y="1787703"/>
            <a:ext cx="9522647" cy="4440482"/>
          </a:xfrm>
        </p:spPr>
        <p:txBody>
          <a:bodyPr/>
          <a:lstStyle/>
          <a:p>
            <a:pPr marL="0" indent="0">
              <a:buNone/>
            </a:pPr>
            <a:r>
              <a:rPr lang="uk-UA" sz="2800" b="1" dirty="0"/>
              <a:t>Робота з зображенням:</a:t>
            </a:r>
          </a:p>
          <a:p>
            <a:r>
              <a:rPr lang="ru-RU" dirty="0"/>
              <a:t>Створено два </a:t>
            </a:r>
            <a:r>
              <a:rPr lang="ru-RU" dirty="0" err="1"/>
              <a:t>полігона</a:t>
            </a:r>
            <a:r>
              <a:rPr lang="ru-RU" dirty="0"/>
              <a:t> для </a:t>
            </a:r>
            <a:r>
              <a:rPr lang="ru-RU" dirty="0" err="1"/>
              <a:t>підрахунку</a:t>
            </a:r>
            <a:r>
              <a:rPr lang="ru-RU" dirty="0"/>
              <a:t> </a:t>
            </a:r>
            <a:r>
              <a:rPr lang="ru-RU" dirty="0" err="1"/>
              <a:t>кількості</a:t>
            </a:r>
            <a:r>
              <a:rPr lang="ru-RU" dirty="0"/>
              <a:t> </a:t>
            </a:r>
            <a:r>
              <a:rPr lang="ru-RU" dirty="0" err="1"/>
              <a:t>об’єктів</a:t>
            </a:r>
            <a:r>
              <a:rPr lang="ru-RU" dirty="0"/>
              <a:t> </a:t>
            </a:r>
            <a:r>
              <a:rPr lang="ru-RU" dirty="0" err="1"/>
              <a:t>всередині</a:t>
            </a:r>
            <a:r>
              <a:rPr lang="ru-RU" dirty="0"/>
              <a:t> них (</a:t>
            </a:r>
            <a:r>
              <a:rPr lang="en-US" b="1" dirty="0"/>
              <a:t>zone_</a:t>
            </a:r>
            <a:r>
              <a:rPr lang="uk-UA" b="1" dirty="0"/>
              <a:t>А та </a:t>
            </a:r>
            <a:r>
              <a:rPr lang="en-US" b="1" dirty="0" err="1"/>
              <a:t>zone_B</a:t>
            </a:r>
            <a:r>
              <a:rPr lang="ru-RU" dirty="0"/>
              <a:t>), </a:t>
            </a:r>
            <a:r>
              <a:rPr lang="ru-RU" dirty="0" err="1"/>
              <a:t>візуалізації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на </a:t>
            </a:r>
            <a:r>
              <a:rPr lang="ru-RU" dirty="0" err="1"/>
              <a:t>зображенні</a:t>
            </a:r>
            <a:r>
              <a:rPr lang="ru-RU" dirty="0"/>
              <a:t>.</a:t>
            </a:r>
          </a:p>
          <a:p>
            <a:r>
              <a:rPr lang="ru-RU" dirty="0" err="1"/>
              <a:t>Лічильник</a:t>
            </a:r>
            <a:r>
              <a:rPr lang="ru-RU" dirty="0"/>
              <a:t> </a:t>
            </a:r>
            <a:r>
              <a:rPr lang="en-US" b="1" dirty="0"/>
              <a:t>counts</a:t>
            </a:r>
            <a:r>
              <a:rPr lang="uk-UA" dirty="0"/>
              <a:t>, в який записується кількість об’єктів, виявлених всередині полігонів.</a:t>
            </a:r>
          </a:p>
          <a:p>
            <a:r>
              <a:rPr lang="uk-UA" dirty="0"/>
              <a:t>Логіка виявлення об’єктів в полігонах: перевірка через </a:t>
            </a:r>
            <a:r>
              <a:rPr lang="en-US" b="1" dirty="0"/>
              <a:t>cv2.pointPolygonTest(</a:t>
            </a:r>
            <a:r>
              <a:rPr lang="uk-UA" b="1" dirty="0"/>
              <a:t>) </a:t>
            </a:r>
            <a:r>
              <a:rPr lang="uk-UA" dirty="0"/>
              <a:t>чи </a:t>
            </a:r>
            <a:r>
              <a:rPr lang="ru-RU" dirty="0" err="1"/>
              <a:t>знаходиться</a:t>
            </a:r>
            <a:r>
              <a:rPr lang="ru-RU" dirty="0"/>
              <a:t> центр </a:t>
            </a:r>
            <a:r>
              <a:rPr lang="ru-RU" dirty="0" err="1"/>
              <a:t>об’єкта</a:t>
            </a:r>
            <a:r>
              <a:rPr lang="ru-RU" dirty="0"/>
              <a:t> </a:t>
            </a:r>
            <a:r>
              <a:rPr lang="ru-RU" dirty="0" err="1"/>
              <a:t>всередині</a:t>
            </a:r>
            <a:r>
              <a:rPr lang="ru-RU" dirty="0"/>
              <a:t> </a:t>
            </a:r>
            <a:r>
              <a:rPr lang="ru-RU" dirty="0" err="1"/>
              <a:t>полігону</a:t>
            </a:r>
            <a:r>
              <a:rPr lang="ru-RU" dirty="0"/>
              <a:t>.</a:t>
            </a:r>
            <a:r>
              <a:rPr lang="uk-UA" dirty="0"/>
              <a:t>  </a:t>
            </a:r>
          </a:p>
          <a:p>
            <a:r>
              <a:rPr lang="uk-UA" dirty="0"/>
              <a:t>Вивід даних з лічильника </a:t>
            </a:r>
            <a:r>
              <a:rPr lang="en-US" b="1" dirty="0"/>
              <a:t>counts</a:t>
            </a:r>
            <a:r>
              <a:rPr lang="uk-UA" b="1" dirty="0"/>
              <a:t> </a:t>
            </a:r>
            <a:r>
              <a:rPr lang="uk-UA" dirty="0"/>
              <a:t>у форматі </a:t>
            </a:r>
            <a:r>
              <a:rPr lang="en-US" dirty="0"/>
              <a:t>JSON</a:t>
            </a:r>
            <a:r>
              <a:rPr lang="uk-UA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182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7F1D5-5D73-E21B-A383-ED54AE932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D1F131C-4A87-A9CD-3D55-D305524B4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701493"/>
          </a:xfrm>
        </p:spPr>
        <p:txBody>
          <a:bodyPr/>
          <a:lstStyle/>
          <a:p>
            <a:pPr algn="ctr"/>
            <a:r>
              <a:rPr lang="uk-UA" b="1" dirty="0"/>
              <a:t>Приклад обробки зображення</a:t>
            </a:r>
          </a:p>
        </p:txBody>
      </p:sp>
      <p:sp>
        <p:nvSpPr>
          <p:cNvPr id="8" name="Объект 4">
            <a:extLst>
              <a:ext uri="{FF2B5EF4-FFF2-40B4-BE49-F238E27FC236}">
                <a16:creationId xmlns:a16="http://schemas.microsoft.com/office/drawing/2014/main" id="{C673246E-7397-42A8-0A13-37BAFE5632BD}"/>
              </a:ext>
            </a:extLst>
          </p:cNvPr>
          <p:cNvSpPr txBox="1">
            <a:spLocks/>
          </p:cNvSpPr>
          <p:nvPr/>
        </p:nvSpPr>
        <p:spPr>
          <a:xfrm>
            <a:off x="1393849" y="1478490"/>
            <a:ext cx="4188649" cy="44833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 err="1"/>
              <a:t>Вивід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з </a:t>
            </a:r>
            <a:r>
              <a:rPr lang="ru-RU" dirty="0" err="1"/>
              <a:t>лічильника</a:t>
            </a:r>
            <a:r>
              <a:rPr lang="ru-RU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4903D7-C3CA-3625-F321-294B6B582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062" y="1478491"/>
            <a:ext cx="5893737" cy="448339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970779D-0F1A-27EA-6A61-A3420AD47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298" y="1952666"/>
            <a:ext cx="2068264" cy="256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324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694D8-506F-EE00-0B32-B39BF6DAE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B6CF746-867F-93FE-0869-CDDBA251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701493"/>
          </a:xfrm>
        </p:spPr>
        <p:txBody>
          <a:bodyPr>
            <a:normAutofit/>
          </a:bodyPr>
          <a:lstStyle/>
          <a:p>
            <a:pPr algn="ctr"/>
            <a:r>
              <a:rPr lang="uk-UA" b="1" dirty="0"/>
              <a:t>Основні оновлення </a:t>
            </a:r>
            <a:r>
              <a:rPr lang="uk-UA" b="1" dirty="0" err="1"/>
              <a:t>проєкту</a:t>
            </a:r>
            <a:endParaRPr lang="uk-UA" b="1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85BFCF4-8B20-7B48-CF8D-1A72F64788C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2" y="1330036"/>
            <a:ext cx="9522647" cy="47008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800" b="1" dirty="0"/>
              <a:t>Робота з відео:</a:t>
            </a:r>
          </a:p>
          <a:p>
            <a:r>
              <a:rPr lang="ru-RU" dirty="0"/>
              <a:t>Створено два </a:t>
            </a:r>
            <a:r>
              <a:rPr lang="ru-RU" dirty="0" err="1"/>
              <a:t>полігона</a:t>
            </a:r>
            <a:r>
              <a:rPr lang="ru-RU" dirty="0"/>
              <a:t> для </a:t>
            </a:r>
            <a:r>
              <a:rPr lang="ru-RU" dirty="0" err="1"/>
              <a:t>підрахунку</a:t>
            </a:r>
            <a:r>
              <a:rPr lang="ru-RU" dirty="0"/>
              <a:t> </a:t>
            </a:r>
            <a:r>
              <a:rPr lang="ru-RU" dirty="0" err="1"/>
              <a:t>кількості</a:t>
            </a:r>
            <a:r>
              <a:rPr lang="ru-RU" dirty="0"/>
              <a:t> </a:t>
            </a:r>
            <a:r>
              <a:rPr lang="ru-RU" dirty="0" err="1"/>
              <a:t>об’єктів</a:t>
            </a:r>
            <a:r>
              <a:rPr lang="ru-RU" dirty="0"/>
              <a:t> </a:t>
            </a:r>
            <a:r>
              <a:rPr lang="ru-RU" dirty="0" err="1"/>
              <a:t>всередині</a:t>
            </a:r>
            <a:r>
              <a:rPr lang="ru-RU" dirty="0"/>
              <a:t> них (</a:t>
            </a:r>
            <a:r>
              <a:rPr lang="en-US" b="1" dirty="0"/>
              <a:t>zone_</a:t>
            </a:r>
            <a:r>
              <a:rPr lang="uk-UA" b="1" dirty="0"/>
              <a:t>А та </a:t>
            </a:r>
            <a:r>
              <a:rPr lang="en-US" b="1" dirty="0" err="1"/>
              <a:t>zone_B</a:t>
            </a:r>
            <a:r>
              <a:rPr lang="ru-RU" dirty="0"/>
              <a:t>), </a:t>
            </a:r>
            <a:r>
              <a:rPr lang="ru-RU" dirty="0" err="1"/>
              <a:t>візуалізації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на </a:t>
            </a:r>
            <a:r>
              <a:rPr lang="ru-RU" dirty="0" err="1"/>
              <a:t>зображенні</a:t>
            </a:r>
            <a:r>
              <a:rPr lang="ru-RU" dirty="0"/>
              <a:t>.</a:t>
            </a:r>
          </a:p>
          <a:p>
            <a:r>
              <a:rPr lang="ru-RU" dirty="0" err="1"/>
              <a:t>Лічильник</a:t>
            </a:r>
            <a:r>
              <a:rPr lang="ru-RU" dirty="0"/>
              <a:t> </a:t>
            </a:r>
            <a:r>
              <a:rPr lang="en-US" b="1" dirty="0"/>
              <a:t>counts</a:t>
            </a:r>
            <a:r>
              <a:rPr lang="uk-UA" dirty="0"/>
              <a:t>, в який записується кількість об’єктів, </a:t>
            </a:r>
            <a:r>
              <a:rPr lang="uk-UA"/>
              <a:t>виявлених всередині </a:t>
            </a:r>
            <a:r>
              <a:rPr lang="uk-UA" dirty="0"/>
              <a:t>полігонів </a:t>
            </a:r>
            <a:r>
              <a:rPr lang="uk-UA" b="1" dirty="0"/>
              <a:t>під час одного кадру</a:t>
            </a:r>
            <a:r>
              <a:rPr lang="uk-UA" dirty="0"/>
              <a:t>.</a:t>
            </a:r>
          </a:p>
          <a:p>
            <a:r>
              <a:rPr lang="uk-UA" dirty="0"/>
              <a:t>Також додано загальний лічильник</a:t>
            </a:r>
            <a:r>
              <a:rPr lang="en-US" dirty="0"/>
              <a:t> </a:t>
            </a:r>
            <a:r>
              <a:rPr lang="en-US" b="1" dirty="0" err="1"/>
              <a:t>total_counts</a:t>
            </a:r>
            <a:r>
              <a:rPr lang="uk-UA" dirty="0"/>
              <a:t>, в який записується кількість </a:t>
            </a:r>
            <a:r>
              <a:rPr lang="uk-UA" b="1" dirty="0"/>
              <a:t>унікальних об’єктів</a:t>
            </a:r>
            <a:r>
              <a:rPr lang="uk-UA" dirty="0"/>
              <a:t>, виявлених в середині полігонів </a:t>
            </a:r>
            <a:r>
              <a:rPr lang="uk-UA" b="1" dirty="0"/>
              <a:t>за час усього відео</a:t>
            </a:r>
            <a:r>
              <a:rPr lang="uk-UA" dirty="0"/>
              <a:t>. Це може бути корисно при необхідності порахувати загальну кількість виявлених об’єктів, наприклад, на конвеєрній стрічці.</a:t>
            </a:r>
          </a:p>
          <a:p>
            <a:r>
              <a:rPr lang="uk-UA" dirty="0"/>
              <a:t>Логіка виявлення об’єктів в полігонах: перевірка через </a:t>
            </a:r>
            <a:r>
              <a:rPr lang="en-US" b="1" dirty="0"/>
              <a:t>cv2.pointPolygonTest(</a:t>
            </a:r>
            <a:r>
              <a:rPr lang="uk-UA" b="1" dirty="0"/>
              <a:t>) </a:t>
            </a:r>
            <a:r>
              <a:rPr lang="uk-UA" dirty="0"/>
              <a:t>чи </a:t>
            </a:r>
            <a:r>
              <a:rPr lang="ru-RU" dirty="0" err="1"/>
              <a:t>знаходиться</a:t>
            </a:r>
            <a:r>
              <a:rPr lang="ru-RU" dirty="0"/>
              <a:t> центр </a:t>
            </a:r>
            <a:r>
              <a:rPr lang="ru-RU" dirty="0" err="1"/>
              <a:t>об’єкта</a:t>
            </a:r>
            <a:r>
              <a:rPr lang="ru-RU" dirty="0"/>
              <a:t> </a:t>
            </a:r>
            <a:r>
              <a:rPr lang="ru-RU" dirty="0" err="1"/>
              <a:t>всередині</a:t>
            </a:r>
            <a:r>
              <a:rPr lang="ru-RU" dirty="0"/>
              <a:t> </a:t>
            </a:r>
            <a:r>
              <a:rPr lang="ru-RU" dirty="0" err="1"/>
              <a:t>полігону</a:t>
            </a:r>
            <a:r>
              <a:rPr lang="ru-RU" dirty="0"/>
              <a:t>.</a:t>
            </a:r>
            <a:r>
              <a:rPr lang="uk-UA" dirty="0"/>
              <a:t>  </a:t>
            </a:r>
          </a:p>
          <a:p>
            <a:endParaRPr lang="en-US" dirty="0"/>
          </a:p>
          <a:p>
            <a:pPr marL="0" indent="0">
              <a:buNone/>
            </a:pPr>
            <a:endParaRPr lang="uk-UA" dirty="0"/>
          </a:p>
          <a:p>
            <a:pPr marL="0" indent="0" algn="ctr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5981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74D9E-113D-6FE8-A38D-19AFDC626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8E8F573-923A-F99D-C14E-921EF0D7A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007" y="503852"/>
            <a:ext cx="9150675" cy="701493"/>
          </a:xfrm>
        </p:spPr>
        <p:txBody>
          <a:bodyPr>
            <a:normAutofit/>
          </a:bodyPr>
          <a:lstStyle/>
          <a:p>
            <a:pPr algn="ctr"/>
            <a:r>
              <a:rPr lang="uk-UA" b="1" dirty="0"/>
              <a:t>Приклад обробки відео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6CB92B2-582A-E2A0-2506-00C61DE8387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00" y="1382918"/>
            <a:ext cx="3048000" cy="45918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/>
              <a:t>Намальовано зони </a:t>
            </a:r>
            <a:r>
              <a:rPr lang="en-US" b="1" dirty="0"/>
              <a:t>A </a:t>
            </a:r>
            <a:r>
              <a:rPr lang="uk-UA" b="1" dirty="0"/>
              <a:t>та </a:t>
            </a:r>
            <a:r>
              <a:rPr lang="en-US" b="1" dirty="0"/>
              <a:t>B</a:t>
            </a:r>
            <a:r>
              <a:rPr lang="uk-UA" b="1" dirty="0"/>
              <a:t> </a:t>
            </a:r>
            <a:r>
              <a:rPr lang="uk-UA" dirty="0"/>
              <a:t>у вигляді зелених полігонів.</a:t>
            </a:r>
          </a:p>
          <a:p>
            <a:pPr marL="0" indent="0">
              <a:buNone/>
            </a:pPr>
            <a:r>
              <a:rPr lang="uk-UA" dirty="0" err="1"/>
              <a:t>Лічильниик</a:t>
            </a:r>
            <a:r>
              <a:rPr lang="uk-UA" dirty="0"/>
              <a:t> </a:t>
            </a:r>
            <a:r>
              <a:rPr lang="en-US" b="1" dirty="0"/>
              <a:t>counts </a:t>
            </a:r>
            <a:r>
              <a:rPr lang="uk-UA" dirty="0"/>
              <a:t>з кількістю виявлених об’єктів в кожному полігоні на одному кадрі прописується прямо на відео знизу.</a:t>
            </a:r>
            <a:endParaRPr lang="en-US" dirty="0"/>
          </a:p>
          <a:p>
            <a:pPr marL="0" indent="0">
              <a:buNone/>
            </a:pPr>
            <a:endParaRPr lang="uk-UA" dirty="0"/>
          </a:p>
          <a:p>
            <a:pPr marL="0" indent="0" algn="ctr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692C7AB-868E-F777-4F7D-F2DB31A85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56" y="1382917"/>
            <a:ext cx="8064906" cy="459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9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6E4E6-3A9B-9F7A-75D7-F6BA44F6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43C16A0-798C-F14B-66A3-5C1CF92C8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662" y="503852"/>
            <a:ext cx="9150675" cy="701493"/>
          </a:xfrm>
        </p:spPr>
        <p:txBody>
          <a:bodyPr>
            <a:normAutofit/>
          </a:bodyPr>
          <a:lstStyle/>
          <a:p>
            <a:pPr algn="ctr"/>
            <a:r>
              <a:rPr lang="uk-UA" b="1" dirty="0"/>
              <a:t>Приклад обробки відео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B55C9A0-385C-A447-C21C-F41E390E7C8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11665" y="1571943"/>
            <a:ext cx="7709045" cy="47822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/>
              <a:t>Дані з загального лічильника </a:t>
            </a:r>
            <a:r>
              <a:rPr lang="en-US" b="1" dirty="0" err="1"/>
              <a:t>total_counts</a:t>
            </a:r>
            <a:r>
              <a:rPr lang="uk-UA" b="1" dirty="0"/>
              <a:t> </a:t>
            </a:r>
            <a:r>
              <a:rPr lang="uk-UA" dirty="0"/>
              <a:t>з кількістю виявлених унікальних об’єктів в полігонах виводяться після обробки усього відео.</a:t>
            </a:r>
          </a:p>
          <a:p>
            <a:pPr marL="0" indent="0">
              <a:buNone/>
            </a:pPr>
            <a:r>
              <a:rPr lang="uk-UA" dirty="0"/>
              <a:t>Логіка виявлення унікальних об’єктів: створюється два словника </a:t>
            </a:r>
            <a:r>
              <a:rPr lang="en-US" b="1" dirty="0" err="1"/>
              <a:t>tracked_objects</a:t>
            </a:r>
            <a:r>
              <a:rPr lang="en-US" b="1" dirty="0"/>
              <a:t>_</a:t>
            </a:r>
            <a:r>
              <a:rPr lang="uk-UA" b="1" dirty="0"/>
              <a:t>А </a:t>
            </a:r>
            <a:r>
              <a:rPr lang="uk-UA" dirty="0"/>
              <a:t>та</a:t>
            </a:r>
            <a:r>
              <a:rPr lang="uk-UA" b="1" dirty="0"/>
              <a:t> </a:t>
            </a:r>
            <a:r>
              <a:rPr lang="en-US" b="1" dirty="0" err="1"/>
              <a:t>tracked_objects_B</a:t>
            </a:r>
            <a:r>
              <a:rPr lang="uk-UA" b="1" dirty="0"/>
              <a:t> </a:t>
            </a:r>
            <a:r>
              <a:rPr lang="uk-UA" dirty="0"/>
              <a:t>відповідно до двох зон. Якщо в одному з полігонів виявлено об’єкт, до відповідного словника записується його ідентифікатор </a:t>
            </a:r>
            <a:r>
              <a:rPr lang="en-US" b="1" dirty="0" err="1"/>
              <a:t>object_id</a:t>
            </a:r>
            <a:r>
              <a:rPr lang="uk-UA" dirty="0"/>
              <a:t>, а також у лічильник </a:t>
            </a:r>
            <a:r>
              <a:rPr lang="en-US" b="1" dirty="0" err="1"/>
              <a:t>total_counts</a:t>
            </a:r>
            <a:r>
              <a:rPr lang="uk-UA" b="1" dirty="0"/>
              <a:t> </a:t>
            </a:r>
            <a:r>
              <a:rPr lang="uk-UA" dirty="0"/>
              <a:t>до відповідної зони додається +1 об’єкт</a:t>
            </a:r>
            <a:r>
              <a:rPr lang="uk-UA" b="1" dirty="0"/>
              <a:t>. </a:t>
            </a:r>
          </a:p>
          <a:p>
            <a:pPr marL="0" indent="0">
              <a:buNone/>
            </a:pPr>
            <a:r>
              <a:rPr lang="uk-UA" dirty="0"/>
              <a:t>При виявленні наступного об’єкта у певній зоні, система перевіряє чи </a:t>
            </a:r>
            <a:r>
              <a:rPr lang="uk-UA" dirty="0" err="1"/>
              <a:t>записан</a:t>
            </a:r>
            <a:r>
              <a:rPr lang="uk-UA" dirty="0"/>
              <a:t> ідентифікатор цього об’єкта </a:t>
            </a:r>
            <a:r>
              <a:rPr lang="en-US" b="1" dirty="0" err="1"/>
              <a:t>object_id</a:t>
            </a:r>
            <a:r>
              <a:rPr lang="uk-UA" b="1" dirty="0"/>
              <a:t> </a:t>
            </a:r>
            <a:r>
              <a:rPr lang="uk-UA" dirty="0"/>
              <a:t>до відповідного словника, якщо ні – система </a:t>
            </a:r>
            <a:r>
              <a:rPr lang="uk-UA" dirty="0" err="1"/>
              <a:t>додасть</a:t>
            </a:r>
            <a:r>
              <a:rPr lang="uk-UA" dirty="0"/>
              <a:t> його до загальної статистики, а якщо так -  то зрозуміло, що цей об’єкт вже було виявлено у цій зоні раніше і записувати його ще раз не має сенсу – пропускаєм його.</a:t>
            </a:r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D4F515A-E042-6267-3055-41EF5FBB8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358" y="2126852"/>
            <a:ext cx="2056022" cy="260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281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9EEA8-0CA9-155A-E173-9356297DE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A66B5F9-5946-6B63-020C-2F93FE39D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662" y="503852"/>
            <a:ext cx="9150675" cy="701493"/>
          </a:xfrm>
        </p:spPr>
        <p:txBody>
          <a:bodyPr>
            <a:normAutofit/>
          </a:bodyPr>
          <a:lstStyle/>
          <a:p>
            <a:pPr algn="ctr"/>
            <a:r>
              <a:rPr lang="uk-UA" b="1" dirty="0"/>
              <a:t>Додаткові оновлення </a:t>
            </a:r>
            <a:r>
              <a:rPr lang="uk-UA" b="1" dirty="0" err="1"/>
              <a:t>проєкту</a:t>
            </a:r>
            <a:endParaRPr lang="uk-UA" b="1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5B32BB6-82E6-44D6-DC3B-6517CE587E0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96697" y="1345915"/>
            <a:ext cx="6806872" cy="5352836"/>
          </a:xfrm>
        </p:spPr>
        <p:txBody>
          <a:bodyPr>
            <a:normAutofit/>
          </a:bodyPr>
          <a:lstStyle/>
          <a:p>
            <a:r>
              <a:rPr lang="uk-UA" dirty="0"/>
              <a:t>Було створено клас </a:t>
            </a:r>
            <a:r>
              <a:rPr lang="en-US" b="1" dirty="0" err="1"/>
              <a:t>FPS_Counter</a:t>
            </a:r>
            <a:r>
              <a:rPr lang="uk-UA" b="1" dirty="0"/>
              <a:t> </a:t>
            </a:r>
            <a:r>
              <a:rPr lang="uk-UA" dirty="0"/>
              <a:t>для розрахунку середнього значення кількості кадрів за секунду. Так показник </a:t>
            </a:r>
            <a:r>
              <a:rPr lang="en-US" dirty="0"/>
              <a:t>fps</a:t>
            </a:r>
            <a:r>
              <a:rPr lang="uk-UA" dirty="0"/>
              <a:t> на відео буде показувати точніше значення і змінюватися більш плавно ніж раніше. Параметр </a:t>
            </a:r>
            <a:r>
              <a:rPr lang="en-US" b="1" dirty="0" err="1"/>
              <a:t>calc_time_perion_N_frames</a:t>
            </a:r>
            <a:r>
              <a:rPr lang="en-US" b="1" dirty="0"/>
              <a:t> </a:t>
            </a:r>
            <a:r>
              <a:rPr lang="uk-UA" dirty="0"/>
              <a:t>визначає, за скільки кадрів буде </a:t>
            </a:r>
            <a:r>
              <a:rPr lang="uk-UA" dirty="0" err="1"/>
              <a:t>усереднюватись</a:t>
            </a:r>
            <a:r>
              <a:rPr lang="uk-UA" dirty="0"/>
              <a:t> </a:t>
            </a:r>
            <a:r>
              <a:rPr lang="en-US" dirty="0"/>
              <a:t>fps.</a:t>
            </a:r>
            <a:r>
              <a:rPr lang="uk-UA" dirty="0"/>
              <a:t> Також було перероблено його дизайн для кращого сприйняття. </a:t>
            </a:r>
          </a:p>
          <a:p>
            <a:r>
              <a:rPr lang="uk-UA" dirty="0"/>
              <a:t>Покращено дизайн виводу класу об’єкта та його </a:t>
            </a:r>
            <a:r>
              <a:rPr lang="en-US" dirty="0"/>
              <a:t>confidence </a:t>
            </a:r>
            <a:r>
              <a:rPr lang="uk-UA" dirty="0"/>
              <a:t>на екран.</a:t>
            </a:r>
          </a:p>
          <a:p>
            <a:r>
              <a:rPr lang="uk-UA" dirty="0"/>
              <a:t>Зміна параметрів файлу</a:t>
            </a:r>
            <a:r>
              <a:rPr lang="en-US" dirty="0"/>
              <a:t> </a:t>
            </a:r>
            <a:r>
              <a:rPr lang="en-US" b="1" dirty="0" err="1"/>
              <a:t>bytetrack.yaml</a:t>
            </a:r>
            <a:r>
              <a:rPr lang="uk-UA" dirty="0"/>
              <a:t>, що відповідає за </a:t>
            </a:r>
            <a:r>
              <a:rPr lang="uk-UA" dirty="0" err="1"/>
              <a:t>мульти-трекінг</a:t>
            </a:r>
            <a:r>
              <a:rPr lang="uk-UA" dirty="0"/>
              <a:t> об’єктів. В результаті покращилася точність виявлення та збільшилася тривалість життя </a:t>
            </a:r>
            <a:r>
              <a:rPr lang="en-US" dirty="0"/>
              <a:t>ID </a:t>
            </a:r>
            <a:r>
              <a:rPr lang="uk-UA" dirty="0"/>
              <a:t>кожного об’єкта. Це допомогло зменшити помилкові значення в статистиці </a:t>
            </a:r>
            <a:r>
              <a:rPr lang="en-US" b="1" dirty="0" err="1"/>
              <a:t>total_counts</a:t>
            </a:r>
            <a:r>
              <a:rPr lang="uk-UA" b="1" dirty="0"/>
              <a:t>.</a:t>
            </a:r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8CBE08-9B8E-CCD1-47D8-EAB20E5075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110" b="23017"/>
          <a:stretch>
            <a:fillRect/>
          </a:stretch>
        </p:blipFill>
        <p:spPr>
          <a:xfrm>
            <a:off x="8186551" y="1565470"/>
            <a:ext cx="3341053" cy="150340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F4E8C37-D2AA-2AB8-8803-47CEC57D9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550" y="3428999"/>
            <a:ext cx="3341053" cy="220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0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FCEAD-EE11-2EC7-8408-07B40CE0B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5D906EF-C5F8-59C6-CFC4-F5B0E6A73CB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37960" y="667819"/>
            <a:ext cx="9644567" cy="5436361"/>
          </a:xfrm>
        </p:spPr>
        <p:txBody>
          <a:bodyPr/>
          <a:lstStyle/>
          <a:p>
            <a:pPr marL="0" indent="0">
              <a:buNone/>
            </a:pPr>
            <a:r>
              <a:rPr lang="uk-UA" dirty="0"/>
              <a:t>Оновлена система показала якісні результати з вхідними зображеннями та відеофайлами. Значення </a:t>
            </a:r>
            <a:r>
              <a:rPr lang="en-US" dirty="0"/>
              <a:t>fps</a:t>
            </a:r>
            <a:r>
              <a:rPr lang="uk-UA" dirty="0"/>
              <a:t> при обробці відео з завантаженого файлу в середньому сягали 33 кадрів в секунду, при обробці відео з камери ноутбука в реальному часі – 25 кадрів.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02F683-B2F4-6F0C-7B81-3063A3A0D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04" y="2003462"/>
            <a:ext cx="6594044" cy="372503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B22CDFB-F3F0-52A9-08E9-7F50A822C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386" y="2003462"/>
            <a:ext cx="4894210" cy="372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356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БС_11_Презентація_захист_ДР_Борісов</Template>
  <TotalTime>434</TotalTime>
  <Words>632</Words>
  <Application>Microsoft Office PowerPoint</Application>
  <PresentationFormat>Широкоэкранный</PresentationFormat>
  <Paragraphs>43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Tisa Offc Serif Pro</vt:lpstr>
      <vt:lpstr>Univers Light</vt:lpstr>
      <vt:lpstr>Custom</vt:lpstr>
      <vt:lpstr>Технічне завдання №2</vt:lpstr>
      <vt:lpstr>Основні оновлення проєкту</vt:lpstr>
      <vt:lpstr>Приклад обробки зображення</vt:lpstr>
      <vt:lpstr>Основні оновлення проєкту</vt:lpstr>
      <vt:lpstr>Приклад обробки відео</vt:lpstr>
      <vt:lpstr>Приклад обробки відео</vt:lpstr>
      <vt:lpstr>Додаткові оновлення проєкту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 Borisov</dc:creator>
  <cp:lastModifiedBy>Nikita Borisov</cp:lastModifiedBy>
  <cp:revision>12</cp:revision>
  <dcterms:created xsi:type="dcterms:W3CDTF">2025-09-21T21:49:49Z</dcterms:created>
  <dcterms:modified xsi:type="dcterms:W3CDTF">2026-06-10T12:11:20Z</dcterms:modified>
</cp:coreProperties>
</file>